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Cover. Infinite Possibilities builds custom AI platforms for portfolio companies.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on proof, not positioning. The numbers earn the right to be heard.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Firm at a glance — credibility markers before the argument.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MIT: 95% of GenAI pilots show no P&amp;L impact. Gartner: 41% of employees are citizen developers. EY: token costs now trigger fiscal scrutiny.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thesis. Proprietary IP owned at exit is the AI value lever that carries a durable premium.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design principles. Each answers one of the four problems from the previous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Everything inside the line is new and owned. Everything outside it already exists.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previous slide made concrete: five workflows on top, one Core beneath, built from their own systems and know-how.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Honest framing: one workflow live, four sequenced. The compounding argument is the point — each build after the first is cheaper.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divider into the use-case detail carried over from the capabilities deck.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cases carried over verbatim from the capabilities deck.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pod reports into the client organisation, not alongside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ways to engage. Commitment is earned, never assumed.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 and the single impact statement.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1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PortcoAITransformation/public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371600"/>
            <a:ext cx="4572000" cy="96308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66928" y="2514600"/>
            <a:ext cx="8595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Custom AI platforms for</a:t>
            </a:r>
            <a:endParaRPr lang="en-US" sz="4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portfolio companies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566928" y="434340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9A8D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Accelerate AI-driven value creation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566928" y="5029200"/>
            <a:ext cx="1965960" cy="420624"/>
          </a:xfrm>
          <a:prstGeom prst="roundRect">
            <a:avLst>
              <a:gd name="adj" fmla="val 21739"/>
            </a:avLst>
          </a:prstGeom>
          <a:solidFill>
            <a:srgbClr val="221C19"/>
          </a:solidFill>
          <a:ln w="12700">
            <a:solidFill>
              <a:srgbClr val="3A2F2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3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2670048" y="5029200"/>
            <a:ext cx="1965960" cy="420624"/>
          </a:xfrm>
          <a:prstGeom prst="roundRect">
            <a:avLst>
              <a:gd name="adj" fmla="val 21739"/>
            </a:avLst>
          </a:prstGeom>
          <a:solidFill>
            <a:srgbClr val="221C19"/>
          </a:solidFill>
          <a:ln w="12700">
            <a:solidFill>
              <a:srgbClr val="3A2F2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3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Workflows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773168" y="5029200"/>
            <a:ext cx="1965960" cy="420624"/>
          </a:xfrm>
          <a:prstGeom prst="roundRect">
            <a:avLst>
              <a:gd name="adj" fmla="val 21739"/>
            </a:avLst>
          </a:prstGeom>
          <a:solidFill>
            <a:srgbClr val="221C19"/>
          </a:solidFill>
          <a:ln w="12700">
            <a:solidFill>
              <a:srgbClr val="3A2F2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3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Intelligence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411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PortcoAITransformation/public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02952" y="310896"/>
            <a:ext cx="1691640" cy="35634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66928" y="5029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60" kern="0" dirty="0">
                <a:solidFill>
                  <a:srgbClr val="FDD3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 AT ENTERPRISE SCALE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66928" y="914400"/>
            <a:ext cx="9281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One of the world’s leading consulting firms</a:t>
            </a:r>
            <a:endParaRPr lang="en-US" sz="28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runs its AI on a platform we built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566928" y="2880360"/>
            <a:ext cx="24825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B633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10,000+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566928" y="3703320"/>
            <a:ext cx="24825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60" kern="0" dirty="0">
                <a:solidFill>
                  <a:srgbClr val="9A8D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USERS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3323844" y="2880360"/>
            <a:ext cx="24825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B633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Six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3323844" y="3703320"/>
            <a:ext cx="24825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60" kern="0" dirty="0">
                <a:solidFill>
                  <a:srgbClr val="9A8D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CONTINENTS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080760" y="2880360"/>
            <a:ext cx="24825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B633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15B+</a:t>
            </a:r>
            <a:endParaRPr lang="en-US" sz="4000" dirty="0"/>
          </a:p>
        </p:txBody>
      </p:sp>
      <p:sp>
        <p:nvSpPr>
          <p:cNvPr id="10" name="Text 7"/>
          <p:cNvSpPr/>
          <p:nvPr/>
        </p:nvSpPr>
        <p:spPr>
          <a:xfrm>
            <a:off x="6080760" y="3703320"/>
            <a:ext cx="24825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60" kern="0" dirty="0">
                <a:solidFill>
                  <a:srgbClr val="9A8D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 PER MONTH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8837676" y="2880360"/>
            <a:ext cx="24825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B633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99%</a:t>
            </a:r>
            <a:endParaRPr lang="en-US" sz="4000" dirty="0"/>
          </a:p>
        </p:txBody>
      </p:sp>
      <p:sp>
        <p:nvSpPr>
          <p:cNvPr id="12" name="Text 9"/>
          <p:cNvSpPr/>
          <p:nvPr/>
        </p:nvSpPr>
        <p:spPr>
          <a:xfrm>
            <a:off x="8837676" y="3703320"/>
            <a:ext cx="24825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60" kern="0" dirty="0">
                <a:solidFill>
                  <a:srgbClr val="9A8D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ACCURACY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66928" y="489204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A8D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Sole AI platform partner since 2023 — scaled from 20 to 10,000+ users across 20+ countries, supporting 100+ use cases.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PortcoAITransformation/public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02952" y="310896"/>
            <a:ext cx="1691640" cy="35634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66928" y="384048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60" kern="0" dirty="0">
                <a:solidFill>
                  <a:srgbClr val="EB63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WE ARE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66928" y="694944"/>
            <a:ext cx="9281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From AI ambition to AI in production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566928" y="1572768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are a software development partner for enterprise-ready custom AI, building platforms that portfolio companies own.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66928" y="2606040"/>
            <a:ext cx="3419856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E4DAD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41248" y="2752344"/>
            <a:ext cx="28986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B633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Apr 2013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841248" y="3172968"/>
            <a:ext cx="28986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Founded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242816" y="2606040"/>
            <a:ext cx="3419856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E4DAD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17136" y="2752344"/>
            <a:ext cx="28986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B633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Apr 2022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4517136" y="3172968"/>
            <a:ext cx="28986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solutions since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7918704" y="2606040"/>
            <a:ext cx="3419856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E4DAD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193024" y="2752344"/>
            <a:ext cx="28986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B633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Private markets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8193024" y="3172968"/>
            <a:ext cx="28986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focus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66928" y="3931920"/>
            <a:ext cx="3419856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E4DAD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41248" y="4078224"/>
            <a:ext cx="28986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B633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30+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841248" y="4498848"/>
            <a:ext cx="28986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engineers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242816" y="3931920"/>
            <a:ext cx="3419856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E4DAD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517136" y="4078224"/>
            <a:ext cx="28986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B633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50+</a:t>
            </a:r>
            <a:endParaRPr lang="en-US" sz="2000" dirty="0"/>
          </a:p>
        </p:txBody>
      </p:sp>
      <p:sp>
        <p:nvSpPr>
          <p:cNvPr id="20" name="Text 17"/>
          <p:cNvSpPr/>
          <p:nvPr/>
        </p:nvSpPr>
        <p:spPr>
          <a:xfrm>
            <a:off x="4517136" y="4498848"/>
            <a:ext cx="28986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Battle-tested accelerators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7918704" y="3931920"/>
            <a:ext cx="3419856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E4DAD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193024" y="4078224"/>
            <a:ext cx="28986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B633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100%</a:t>
            </a:r>
            <a:endParaRPr lang="en-US" sz="2000" dirty="0"/>
          </a:p>
        </p:txBody>
      </p:sp>
      <p:sp>
        <p:nvSpPr>
          <p:cNvPr id="23" name="Text 20"/>
          <p:cNvSpPr/>
          <p:nvPr/>
        </p:nvSpPr>
        <p:spPr>
          <a:xfrm>
            <a:off x="8193024" y="4498848"/>
            <a:ext cx="28986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project share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1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PortcoAITransformation/public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02952" y="310896"/>
            <a:ext cx="1691640" cy="35634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66928" y="384048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60" kern="0" dirty="0">
                <a:solidFill>
                  <a:srgbClr val="FDD3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MOST MID-MARKET PORTFOLIO COMPANIES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66928" y="694944"/>
            <a:ext cx="9281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The same four things, every time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566928" y="1965960"/>
            <a:ext cx="11027664" cy="841248"/>
          </a:xfrm>
          <a:prstGeom prst="roundRect">
            <a:avLst>
              <a:gd name="adj" fmla="val 8696"/>
            </a:avLst>
          </a:prstGeom>
          <a:solidFill>
            <a:srgbClr val="221C19"/>
          </a:solidFill>
          <a:ln w="12700">
            <a:solidFill>
              <a:srgbClr val="332A24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59536" y="2203704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B63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435608" y="214884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Citizen developers build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5779008" y="214884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1346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Unable to scale</a:t>
            </a:r>
            <a:endParaRPr lang="en-US" sz="1900" dirty="0"/>
          </a:p>
        </p:txBody>
      </p:sp>
      <p:sp>
        <p:nvSpPr>
          <p:cNvPr id="9" name="Shape 6"/>
          <p:cNvSpPr/>
          <p:nvPr/>
        </p:nvSpPr>
        <p:spPr>
          <a:xfrm>
            <a:off x="566928" y="3017520"/>
            <a:ext cx="11027664" cy="841248"/>
          </a:xfrm>
          <a:prstGeom prst="roundRect">
            <a:avLst>
              <a:gd name="adj" fmla="val 8696"/>
            </a:avLst>
          </a:prstGeom>
          <a:solidFill>
            <a:srgbClr val="221C19"/>
          </a:solidFill>
          <a:ln w="12700">
            <a:solidFill>
              <a:srgbClr val="332A2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59536" y="3255264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B63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435608" y="320040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Vendors sell</a:t>
            </a:r>
            <a:endParaRPr lang="en-US" sz="1900" dirty="0"/>
          </a:p>
        </p:txBody>
      </p:sp>
      <p:sp>
        <p:nvSpPr>
          <p:cNvPr id="12" name="Text 9"/>
          <p:cNvSpPr/>
          <p:nvPr/>
        </p:nvSpPr>
        <p:spPr>
          <a:xfrm>
            <a:off x="5779008" y="320040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1346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Unable to fit the ecosystem</a:t>
            </a:r>
            <a:endParaRPr lang="en-US" sz="1900" dirty="0"/>
          </a:p>
        </p:txBody>
      </p:sp>
      <p:sp>
        <p:nvSpPr>
          <p:cNvPr id="13" name="Shape 10"/>
          <p:cNvSpPr/>
          <p:nvPr/>
        </p:nvSpPr>
        <p:spPr>
          <a:xfrm>
            <a:off x="566928" y="4069080"/>
            <a:ext cx="11027664" cy="841248"/>
          </a:xfrm>
          <a:prstGeom prst="roundRect">
            <a:avLst>
              <a:gd name="adj" fmla="val 8696"/>
            </a:avLst>
          </a:prstGeom>
          <a:solidFill>
            <a:srgbClr val="221C19"/>
          </a:solidFill>
          <a:ln w="12700">
            <a:solidFill>
              <a:srgbClr val="332A24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59536" y="4306824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B63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1435608" y="425196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Leaders want to invest</a:t>
            </a:r>
            <a:endParaRPr lang="en-US" sz="1900" dirty="0"/>
          </a:p>
        </p:txBody>
      </p:sp>
      <p:sp>
        <p:nvSpPr>
          <p:cNvPr id="16" name="Text 13"/>
          <p:cNvSpPr/>
          <p:nvPr/>
        </p:nvSpPr>
        <p:spPr>
          <a:xfrm>
            <a:off x="5779008" y="425196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1346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Unable to determine what and when</a:t>
            </a:r>
            <a:endParaRPr lang="en-US" sz="1900" dirty="0"/>
          </a:p>
        </p:txBody>
      </p:sp>
      <p:sp>
        <p:nvSpPr>
          <p:cNvPr id="17" name="Shape 14"/>
          <p:cNvSpPr/>
          <p:nvPr/>
        </p:nvSpPr>
        <p:spPr>
          <a:xfrm>
            <a:off x="566928" y="5120640"/>
            <a:ext cx="11027664" cy="841248"/>
          </a:xfrm>
          <a:prstGeom prst="roundRect">
            <a:avLst>
              <a:gd name="adj" fmla="val 8696"/>
            </a:avLst>
          </a:prstGeom>
          <a:solidFill>
            <a:srgbClr val="221C19"/>
          </a:solidFill>
          <a:ln w="12700">
            <a:solidFill>
              <a:srgbClr val="332A24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59536" y="5358384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B63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35608" y="530352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Tokens burn</a:t>
            </a:r>
            <a:endParaRPr lang="en-US" sz="1900" dirty="0"/>
          </a:p>
        </p:txBody>
      </p:sp>
      <p:sp>
        <p:nvSpPr>
          <p:cNvPr id="20" name="Text 17"/>
          <p:cNvSpPr/>
          <p:nvPr/>
        </p:nvSpPr>
        <p:spPr>
          <a:xfrm>
            <a:off x="5779008" y="530352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1346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Unable to verify ROI</a:t>
            </a:r>
            <a:endParaRPr lang="en-US" sz="1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B63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86868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F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 portfolio company needs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566928" y="16002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strike="sngStrike" dirty="0">
                <a:solidFill>
                  <a:srgbClr val="FFD5C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Not another one-off solution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66928" y="21031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strike="sngStrike" dirty="0">
                <a:solidFill>
                  <a:srgbClr val="FFD5C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Not another vendor’s platform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66928" y="288036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 purpose-built AI platform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566928" y="38404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DD35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 strategic asset they own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66928" y="4800600"/>
            <a:ext cx="3657600" cy="566928"/>
          </a:xfrm>
          <a:prstGeom prst="roundRect">
            <a:avLst>
              <a:gd name="adj" fmla="val 16129"/>
            </a:avLst>
          </a:prstGeom>
          <a:solidFill>
            <a:srgbClr val="D9522A"/>
          </a:solidFill>
          <a:ln w="12700">
            <a:solidFill>
              <a:srgbClr val="D9522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Drives profitable growth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498848" y="4800600"/>
            <a:ext cx="3657600" cy="566928"/>
          </a:xfrm>
          <a:prstGeom prst="roundRect">
            <a:avLst>
              <a:gd name="adj" fmla="val 16129"/>
            </a:avLst>
          </a:prstGeom>
          <a:solidFill>
            <a:srgbClr val="D9522A"/>
          </a:solidFill>
          <a:ln w="12700">
            <a:solidFill>
              <a:srgbClr val="D9522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Improves exit value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PortcoAITransformation/public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02952" y="310896"/>
            <a:ext cx="1691640" cy="35634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66928" y="384048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60" kern="0" dirty="0">
                <a:solidFill>
                  <a:srgbClr val="EB63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DELIVER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66928" y="694944"/>
            <a:ext cx="9281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We build these strategic assets for portfolio companies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566928" y="1883664"/>
            <a:ext cx="384048" cy="292608"/>
          </a:xfrm>
          <a:prstGeom prst="roundRect">
            <a:avLst>
              <a:gd name="adj" fmla="val 18750"/>
            </a:avLst>
          </a:prstGeom>
          <a:solidFill>
            <a:srgbClr val="EB633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133856" y="1828800"/>
            <a:ext cx="4599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Prioritized workflows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1133856" y="2249424"/>
            <a:ext cx="45994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A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drive profitable growth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6263640" y="1883664"/>
            <a:ext cx="384048" cy="292608"/>
          </a:xfrm>
          <a:prstGeom prst="roundRect">
            <a:avLst>
              <a:gd name="adj" fmla="val 18750"/>
            </a:avLst>
          </a:prstGeom>
          <a:solidFill>
            <a:srgbClr val="EB633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830568" y="1828800"/>
            <a:ext cx="4599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One platform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6830568" y="2249424"/>
            <a:ext cx="45994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A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tools, knowledge and templates — one connection to your core systems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566928" y="3300984"/>
            <a:ext cx="384048" cy="292608"/>
          </a:xfrm>
          <a:prstGeom prst="roundRect">
            <a:avLst>
              <a:gd name="adj" fmla="val 18750"/>
            </a:avLst>
          </a:prstGeom>
          <a:solidFill>
            <a:srgbClr val="EB633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1133856" y="3246120"/>
            <a:ext cx="4599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Model-agnostic</a:t>
            </a:r>
            <a:endParaRPr lang="en-US" sz="1900" dirty="0"/>
          </a:p>
        </p:txBody>
      </p:sp>
      <p:sp>
        <p:nvSpPr>
          <p:cNvPr id="13" name="Text 10"/>
          <p:cNvSpPr/>
          <p:nvPr/>
        </p:nvSpPr>
        <p:spPr>
          <a:xfrm>
            <a:off x="1133856" y="3666744"/>
            <a:ext cx="45994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A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 on top of every AI wave, never locked to one vendor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6263640" y="3300984"/>
            <a:ext cx="384048" cy="292608"/>
          </a:xfrm>
          <a:prstGeom prst="roundRect">
            <a:avLst>
              <a:gd name="adj" fmla="val 18750"/>
            </a:avLst>
          </a:prstGeom>
          <a:solidFill>
            <a:srgbClr val="EB633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830568" y="3246120"/>
            <a:ext cx="4599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Cost-managed</a:t>
            </a:r>
            <a:endParaRPr lang="en-US" sz="1900" dirty="0"/>
          </a:p>
        </p:txBody>
      </p:sp>
      <p:sp>
        <p:nvSpPr>
          <p:cNvPr id="16" name="Text 13"/>
          <p:cNvSpPr/>
          <p:nvPr/>
        </p:nvSpPr>
        <p:spPr>
          <a:xfrm>
            <a:off x="6830568" y="3666744"/>
            <a:ext cx="45994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A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spend never outruns the work it replaces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566928" y="4718304"/>
            <a:ext cx="384048" cy="292608"/>
          </a:xfrm>
          <a:prstGeom prst="roundRect">
            <a:avLst>
              <a:gd name="adj" fmla="val 18750"/>
            </a:avLst>
          </a:prstGeom>
          <a:solidFill>
            <a:srgbClr val="EB633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1133856" y="4663440"/>
            <a:ext cx="4599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Secure by design</a:t>
            </a:r>
            <a:endParaRPr lang="en-US" sz="1900" dirty="0"/>
          </a:p>
        </p:txBody>
      </p:sp>
      <p:sp>
        <p:nvSpPr>
          <p:cNvPr id="19" name="Text 16"/>
          <p:cNvSpPr/>
          <p:nvPr/>
        </p:nvSpPr>
        <p:spPr>
          <a:xfrm>
            <a:off x="1133856" y="5084064"/>
            <a:ext cx="45994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A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new build inherits it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PortcoAITransformation/public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02952" y="310896"/>
            <a:ext cx="1691640" cy="35634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66928" y="384048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60" kern="0" dirty="0">
                <a:solidFill>
                  <a:srgbClr val="EB63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66928" y="694944"/>
            <a:ext cx="9281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The architecture of a strategic AI asset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566928" y="1874520"/>
            <a:ext cx="7223760" cy="3246120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 w="25400">
            <a:solidFill>
              <a:srgbClr val="EB633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86384" y="1719072"/>
            <a:ext cx="3291840" cy="292608"/>
          </a:xfrm>
          <a:prstGeom prst="rect">
            <a:avLst/>
          </a:prstGeom>
          <a:solidFill>
            <a:srgbClr val="FAF8F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60" kern="0" dirty="0">
                <a:solidFill>
                  <a:srgbClr val="EB63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BUILD · WHAT YOU OWN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859536" y="2194560"/>
            <a:ext cx="6638544" cy="786384"/>
          </a:xfrm>
          <a:prstGeom prst="roundRect">
            <a:avLst>
              <a:gd name="adj" fmla="val 10465"/>
            </a:avLst>
          </a:prstGeom>
          <a:solidFill>
            <a:srgbClr val="FFFFFF"/>
          </a:solidFill>
          <a:ln w="15875">
            <a:solidFill>
              <a:srgbClr val="EB633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9536" y="2286000"/>
            <a:ext cx="6638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Custom Workflows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859536" y="2633472"/>
            <a:ext cx="6638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priority workflows that drive profit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178808" y="3035808"/>
            <a:ext cx="0" cy="329184"/>
          </a:xfrm>
          <a:prstGeom prst="line">
            <a:avLst/>
          </a:prstGeom>
          <a:noFill/>
          <a:ln w="19050">
            <a:solidFill>
              <a:srgbClr val="EB6336"/>
            </a:solidFill>
            <a:prstDash val="solid"/>
            <a:headEnd type="triangle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859536" y="3401568"/>
            <a:ext cx="6638544" cy="1463040"/>
          </a:xfrm>
          <a:prstGeom prst="roundRect">
            <a:avLst>
              <a:gd name="adj" fmla="val 5625"/>
            </a:avLst>
          </a:prstGeom>
          <a:solidFill>
            <a:srgbClr val="FFFFFF"/>
          </a:solidFill>
          <a:ln w="15875">
            <a:solidFill>
              <a:srgbClr val="EB6336"/>
            </a:solidFill>
            <a:prstDash val="solid"/>
          </a:ln>
          <a:effectLst>
            <a:outerShdw sx="100000" sy="100000" kx="0" ky="0" algn="bl" rotWithShape="0" blurRad="152400" dist="38100" dir="5400000">
              <a:srgbClr val="D9CFC6">
                <a:alpha val="5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859536" y="3520440"/>
            <a:ext cx="66385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EB633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Enterprise AI Core</a:t>
            </a:r>
            <a:endParaRPr lang="en-US" sz="1900" dirty="0"/>
          </a:p>
        </p:txBody>
      </p:sp>
      <p:sp>
        <p:nvSpPr>
          <p:cNvPr id="13" name="Text 10"/>
          <p:cNvSpPr/>
          <p:nvPr/>
        </p:nvSpPr>
        <p:spPr>
          <a:xfrm>
            <a:off x="2217420" y="3968496"/>
            <a:ext cx="1463040" cy="329184"/>
          </a:xfrm>
          <a:prstGeom prst="roundRect">
            <a:avLst>
              <a:gd name="adj" fmla="val 38889"/>
            </a:avLst>
          </a:prstGeom>
          <a:solidFill>
            <a:srgbClr val="FFF3E4"/>
          </a:solidFill>
          <a:ln w="9525">
            <a:solidFill>
              <a:srgbClr val="EB633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connectors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3790188" y="3968496"/>
            <a:ext cx="777240" cy="329184"/>
          </a:xfrm>
          <a:prstGeom prst="roundRect">
            <a:avLst>
              <a:gd name="adj" fmla="val 38889"/>
            </a:avLst>
          </a:prstGeom>
          <a:solidFill>
            <a:srgbClr val="FFF3E4"/>
          </a:solidFill>
          <a:ln w="9525">
            <a:solidFill>
              <a:srgbClr val="EB633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4677156" y="3968496"/>
            <a:ext cx="1463040" cy="329184"/>
          </a:xfrm>
          <a:prstGeom prst="roundRect">
            <a:avLst>
              <a:gd name="adj" fmla="val 38889"/>
            </a:avLst>
          </a:prstGeom>
          <a:solidFill>
            <a:srgbClr val="FFF3E4"/>
          </a:solidFill>
          <a:ln w="9525">
            <a:solidFill>
              <a:srgbClr val="EB633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bases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2363724" y="4370832"/>
            <a:ext cx="2286000" cy="329184"/>
          </a:xfrm>
          <a:prstGeom prst="roundRect">
            <a:avLst>
              <a:gd name="adj" fmla="val 38889"/>
            </a:avLst>
          </a:prstGeom>
          <a:solidFill>
            <a:srgbClr val="FFF3E4"/>
          </a:solidFill>
          <a:ln w="9525">
            <a:solidFill>
              <a:srgbClr val="EB633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&amp; office templates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4759452" y="4370832"/>
            <a:ext cx="1234440" cy="329184"/>
          </a:xfrm>
          <a:prstGeom prst="roundRect">
            <a:avLst>
              <a:gd name="adj" fmla="val 38889"/>
            </a:avLst>
          </a:prstGeom>
          <a:solidFill>
            <a:srgbClr val="FFF3E4"/>
          </a:solidFill>
          <a:ln w="9525">
            <a:solidFill>
              <a:srgbClr val="EB633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8549640" y="3200400"/>
            <a:ext cx="3063240" cy="1051560"/>
          </a:xfrm>
          <a:prstGeom prst="roundRect">
            <a:avLst>
              <a:gd name="adj" fmla="val 6957"/>
            </a:avLst>
          </a:prstGeom>
          <a:solidFill>
            <a:srgbClr val="EFE9E3"/>
          </a:solidFill>
          <a:ln w="12700">
            <a:solidFill>
              <a:srgbClr val="C4B9AE"/>
            </a:solidFill>
            <a:prstDash val="dash"/>
          </a:ln>
        </p:spPr>
      </p:sp>
      <p:sp>
        <p:nvSpPr>
          <p:cNvPr id="19" name="Text 16"/>
          <p:cNvSpPr/>
          <p:nvPr/>
        </p:nvSpPr>
        <p:spPr>
          <a:xfrm>
            <a:off x="8549640" y="3310128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80" kern="0" dirty="0">
                <a:solidFill>
                  <a:srgbClr val="4A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PRODUCTIVITY AI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8549640" y="3639312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· Copilot · ChatGPT Enterprise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7882128" y="3730752"/>
            <a:ext cx="603504" cy="0"/>
          </a:xfrm>
          <a:prstGeom prst="line">
            <a:avLst/>
          </a:prstGeom>
          <a:noFill/>
          <a:ln w="19050">
            <a:solidFill>
              <a:srgbClr val="EB6336"/>
            </a:solidFill>
            <a:prstDash val="solid"/>
            <a:headEnd type="triangle"/>
            <a:tailEnd type="triangle"/>
          </a:ln>
        </p:spPr>
      </p:sp>
      <p:sp>
        <p:nvSpPr>
          <p:cNvPr id="22" name="Shape 19"/>
          <p:cNvSpPr/>
          <p:nvPr/>
        </p:nvSpPr>
        <p:spPr>
          <a:xfrm>
            <a:off x="4178808" y="5157216"/>
            <a:ext cx="0" cy="384048"/>
          </a:xfrm>
          <a:prstGeom prst="line">
            <a:avLst/>
          </a:prstGeom>
          <a:noFill/>
          <a:ln w="19050">
            <a:solidFill>
              <a:srgbClr val="EB6336"/>
            </a:solidFill>
            <a:prstDash val="solid"/>
            <a:headEnd type="triangle"/>
            <a:tailEnd type="triangle"/>
          </a:ln>
        </p:spPr>
      </p:sp>
      <p:sp>
        <p:nvSpPr>
          <p:cNvPr id="23" name="Shape 20"/>
          <p:cNvSpPr/>
          <p:nvPr/>
        </p:nvSpPr>
        <p:spPr>
          <a:xfrm>
            <a:off x="1207008" y="5541264"/>
            <a:ext cx="5943600" cy="658368"/>
          </a:xfrm>
          <a:prstGeom prst="roundRect">
            <a:avLst>
              <a:gd name="adj" fmla="val 11111"/>
            </a:avLst>
          </a:prstGeom>
          <a:solidFill>
            <a:srgbClr val="EFE9E3"/>
          </a:solidFill>
          <a:ln w="12700">
            <a:solidFill>
              <a:srgbClr val="C4B9AE"/>
            </a:solidFill>
            <a:prstDash val="dash"/>
          </a:ln>
        </p:spPr>
      </p:sp>
      <p:sp>
        <p:nvSpPr>
          <p:cNvPr id="24" name="Text 21"/>
          <p:cNvSpPr/>
          <p:nvPr/>
        </p:nvSpPr>
        <p:spPr>
          <a:xfrm>
            <a:off x="1207008" y="5614416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80" kern="0" dirty="0">
                <a:solidFill>
                  <a:srgbClr val="4A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SYSTEMS &amp; DATA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1207008" y="5888736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· CRM · HCM — governed, RBAC-scoped, audited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8549640" y="493776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The tools are how you talk to it.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The Core is what you own.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PortcoAITransformation/public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02952" y="310896"/>
            <a:ext cx="1691640" cy="35634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66928" y="384048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60" kern="0" dirty="0">
                <a:solidFill>
                  <a:srgbClr val="EB63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66928" y="694944"/>
            <a:ext cx="9281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The same architecture, instantiated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566928" y="1572768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4A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mid-market portfolio company in heavy-duty equipment service and repair — multi-branch work orders, warranty claims, parts and field service.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566928" y="205740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WORKFLOWS · THE FIVE PRIORITIZED PROCESSES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66928" y="2377440"/>
            <a:ext cx="2088490" cy="1024128"/>
          </a:xfrm>
          <a:prstGeom prst="roundRect">
            <a:avLst>
              <a:gd name="adj" fmla="val 7143"/>
            </a:avLst>
          </a:prstGeom>
          <a:solidFill>
            <a:srgbClr val="FFF3E4"/>
          </a:solidFill>
          <a:ln w="22225">
            <a:solidFill>
              <a:srgbClr val="EB633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31520" y="2468880"/>
            <a:ext cx="175930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EB63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·  LIVE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731520" y="2706624"/>
            <a:ext cx="175930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Warranty recovery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31520" y="3017520"/>
            <a:ext cx="175930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· submit · reconcile · appeal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2801722" y="2377440"/>
            <a:ext cx="2088490" cy="1024128"/>
          </a:xfrm>
          <a:prstGeom prst="roundRect">
            <a:avLst>
              <a:gd name="adj" fmla="val 7143"/>
            </a:avLst>
          </a:prstGeom>
          <a:solidFill>
            <a:srgbClr val="F1ECE7"/>
          </a:solidFill>
          <a:ln w="12700">
            <a:solidFill>
              <a:srgbClr val="D5CCC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966314" y="2468880"/>
            <a:ext cx="175930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2966314" y="2706624"/>
            <a:ext cx="175930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444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Procurement &amp; AP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2966314" y="3017520"/>
            <a:ext cx="175930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intake · three-way match · gated posting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5036515" y="2377440"/>
            <a:ext cx="2088490" cy="1024128"/>
          </a:xfrm>
          <a:prstGeom prst="roundRect">
            <a:avLst>
              <a:gd name="adj" fmla="val 7143"/>
            </a:avLst>
          </a:prstGeom>
          <a:solidFill>
            <a:srgbClr val="F1ECE7"/>
          </a:solidFill>
          <a:ln w="12700">
            <a:solidFill>
              <a:srgbClr val="D5CCC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201107" y="2468880"/>
            <a:ext cx="175930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5201107" y="2706624"/>
            <a:ext cx="175930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444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Quote-to-cash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5201107" y="3017520"/>
            <a:ext cx="175930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quoting · stale-quote chase · invoicing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7271309" y="2377440"/>
            <a:ext cx="2088490" cy="1024128"/>
          </a:xfrm>
          <a:prstGeom prst="roundRect">
            <a:avLst>
              <a:gd name="adj" fmla="val 7143"/>
            </a:avLst>
          </a:prstGeom>
          <a:solidFill>
            <a:srgbClr val="F1ECE7"/>
          </a:solidFill>
          <a:ln w="12700">
            <a:solidFill>
              <a:srgbClr val="D5CCC3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435901" y="2468880"/>
            <a:ext cx="175930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7435901" y="2706624"/>
            <a:ext cx="175930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444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Bay operations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7435901" y="3017520"/>
            <a:ext cx="175930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orders · dispatch · technician time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9506102" y="2377440"/>
            <a:ext cx="2088490" cy="1024128"/>
          </a:xfrm>
          <a:prstGeom prst="roundRect">
            <a:avLst>
              <a:gd name="adj" fmla="val 7143"/>
            </a:avLst>
          </a:prstGeom>
          <a:solidFill>
            <a:srgbClr val="F1ECE7"/>
          </a:solidFill>
          <a:ln w="12700">
            <a:solidFill>
              <a:srgbClr val="D5CCC3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9670694" y="2468880"/>
            <a:ext cx="175930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9670694" y="2706624"/>
            <a:ext cx="175930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444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Parts &amp; inventory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9670694" y="3017520"/>
            <a:ext cx="175930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on-hand · transfers · cycle counts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6080760" y="3456432"/>
            <a:ext cx="0" cy="274320"/>
          </a:xfrm>
          <a:prstGeom prst="line">
            <a:avLst/>
          </a:prstGeom>
          <a:noFill/>
          <a:ln w="19050">
            <a:solidFill>
              <a:srgbClr val="EB6336"/>
            </a:solidFill>
            <a:prstDash val="solid"/>
            <a:headEnd type="triangle"/>
            <a:tailEnd type="triangle"/>
          </a:ln>
        </p:spPr>
      </p:sp>
      <p:sp>
        <p:nvSpPr>
          <p:cNvPr id="28" name="Shape 25"/>
          <p:cNvSpPr/>
          <p:nvPr/>
        </p:nvSpPr>
        <p:spPr>
          <a:xfrm>
            <a:off x="566928" y="3767328"/>
            <a:ext cx="11027664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25400">
            <a:solidFill>
              <a:srgbClr val="EB6336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66928" y="3895344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60" kern="0" dirty="0">
                <a:solidFill>
                  <a:srgbClr val="EB63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AI CORE · BUILT ONCE, REUSED BY ALL FIVE</a:t>
            </a:r>
            <a:endParaRPr lang="en-US" sz="1050" dirty="0"/>
          </a:p>
        </p:txBody>
      </p:sp>
      <p:sp>
        <p:nvSpPr>
          <p:cNvPr id="30" name="Text 27"/>
          <p:cNvSpPr/>
          <p:nvPr/>
        </p:nvSpPr>
        <p:spPr>
          <a:xfrm>
            <a:off x="886968" y="4261104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Connectors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2395728" y="4279392"/>
            <a:ext cx="8741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dealer-management ERP · CRM · HCM · OEM warranty portals · enterprise data lake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886968" y="4681728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Knowledge</a:t>
            </a:r>
            <a:endParaRPr lang="en-US" sz="1300" dirty="0"/>
          </a:p>
        </p:txBody>
      </p:sp>
      <p:sp>
        <p:nvSpPr>
          <p:cNvPr id="33" name="Text 30"/>
          <p:cNvSpPr/>
          <p:nvPr/>
        </p:nvSpPr>
        <p:spPr>
          <a:xfrm>
            <a:off x="2395728" y="4700016"/>
            <a:ext cx="8741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OEM warranty policy manuals · coverage and rate tables · service manuals · SOPs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886968" y="5102352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Templates</a:t>
            </a:r>
            <a:endParaRPr lang="en-US" sz="1300" dirty="0"/>
          </a:p>
        </p:txBody>
      </p:sp>
      <p:sp>
        <p:nvSpPr>
          <p:cNvPr id="35" name="Text 32"/>
          <p:cNvSpPr/>
          <p:nvPr/>
        </p:nvSpPr>
        <p:spPr>
          <a:xfrm>
            <a:off x="2395728" y="5120640"/>
            <a:ext cx="8741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forms · appeal letters · write-off memos · quotes · journal entries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566928" y="577900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Identity-scoped end to end — 23 roles inheriting the same access controls as the systems of record.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PortcoAITransformation/public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02952" y="310896"/>
            <a:ext cx="1691640" cy="35634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66928" y="384048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60" kern="0" dirty="0">
                <a:solidFill>
                  <a:srgbClr val="EB63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66928" y="694944"/>
            <a:ext cx="9281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Month 3 of a 24-month journey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566928" y="1627632"/>
            <a:ext cx="5806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Warranty receivables went first. The other four processes are scoped and sequenced behind it — each reusing the same connectors, knowledge and policy gates, so every build after the first is faster and cheaper than the one before.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66928" y="2880360"/>
            <a:ext cx="5806440" cy="237744"/>
          </a:xfrm>
          <a:prstGeom prst="roundRect">
            <a:avLst>
              <a:gd name="adj" fmla="val 50000"/>
            </a:avLst>
          </a:prstGeom>
          <a:solidFill>
            <a:srgbClr val="E8DFD6"/>
          </a:solidFill>
          <a:ln w="12700">
            <a:solidFill>
              <a:srgbClr val="E8DFD6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66928" y="2880360"/>
            <a:ext cx="725805" cy="237744"/>
          </a:xfrm>
          <a:prstGeom prst="roundRect">
            <a:avLst>
              <a:gd name="adj" fmla="val 50000"/>
            </a:avLst>
          </a:prstGeom>
          <a:solidFill>
            <a:srgbClr val="EB6336"/>
          </a:solidFill>
          <a:ln w="12700">
            <a:solidFill>
              <a:srgbClr val="EB633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66928" y="31912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B63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3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544568" y="31912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24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66928" y="3794760"/>
            <a:ext cx="5806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FULL BUILD TARGETS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66928" y="4114800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≥ 25%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1709928" y="4151376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the stuck warranty queue recovered or dispositioned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566928" y="4617720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− 30%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1709928" y="4654296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days-to-cash on warranty claims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566928" y="5120640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− 60%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1709928" y="5157216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processor hours per claim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6720840" y="1627632"/>
            <a:ext cx="4873752" cy="41148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9050">
            <a:solidFill>
              <a:srgbClr val="EB633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086600" y="1847088"/>
            <a:ext cx="4142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EB63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SIGNALS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7086600" y="2286000"/>
            <a:ext cx="41422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B633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$1.5M+</a:t>
            </a:r>
            <a:endParaRPr lang="en-US" sz="2800" dirty="0"/>
          </a:p>
        </p:txBody>
      </p:sp>
      <p:sp>
        <p:nvSpPr>
          <p:cNvPr id="20" name="Text 17"/>
          <p:cNvSpPr/>
          <p:nvPr/>
        </p:nvSpPr>
        <p:spPr>
          <a:xfrm>
            <a:off x="7086600" y="2798064"/>
            <a:ext cx="41422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stuck warranty claims surfaced and being worked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7086600" y="3456432"/>
            <a:ext cx="41422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B633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218</a:t>
            </a:r>
            <a:endParaRPr lang="en-US" sz="2800" dirty="0"/>
          </a:p>
        </p:txBody>
      </p:sp>
      <p:sp>
        <p:nvSpPr>
          <p:cNvPr id="22" name="Text 19"/>
          <p:cNvSpPr/>
          <p:nvPr/>
        </p:nvSpPr>
        <p:spPr>
          <a:xfrm>
            <a:off x="7086600" y="3968496"/>
            <a:ext cx="41422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 in the decision store — every proposal, gate decision and approval auditable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7086600" y="4626864"/>
            <a:ext cx="41422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B633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23</a:t>
            </a:r>
            <a:endParaRPr lang="en-US" sz="2800" dirty="0"/>
          </a:p>
        </p:txBody>
      </p:sp>
      <p:sp>
        <p:nvSpPr>
          <p:cNvPr id="24" name="Text 21"/>
          <p:cNvSpPr/>
          <p:nvPr/>
        </p:nvSpPr>
        <p:spPr>
          <a:xfrm>
            <a:off x="7086600" y="5138928"/>
            <a:ext cx="41422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scoped end to end, day one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1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PortcoAITransformation/public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02952" y="310896"/>
            <a:ext cx="1691640" cy="35634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66928" y="23774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60" kern="0" dirty="0">
                <a:solidFill>
                  <a:srgbClr val="FDD3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66928" y="274320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Use cases</a:t>
            </a:r>
            <a:endParaRPr lang="en-US" sz="5000" dirty="0"/>
          </a:p>
        </p:txBody>
      </p:sp>
      <p:sp>
        <p:nvSpPr>
          <p:cNvPr id="5" name="Text 2"/>
          <p:cNvSpPr/>
          <p:nvPr/>
        </p:nvSpPr>
        <p:spPr>
          <a:xfrm>
            <a:off x="566928" y="38404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A8D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platform earns its keep — proven in production across a 10,000-user deployment.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PortcoAITransformation/public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02952" y="310896"/>
            <a:ext cx="1691640" cy="35634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66928" y="384048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60" kern="0" dirty="0">
                <a:solidFill>
                  <a:srgbClr val="EB63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CASES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66928" y="694944"/>
            <a:ext cx="9281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Key platform features that improve productivity</a:t>
            </a:r>
            <a:endParaRPr lang="en-US" sz="27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847088"/>
          <a:ext cx="11027664" cy="914400"/>
        </p:xfrm>
        <a:graphic>
          <a:graphicData uri="http://schemas.openxmlformats.org/drawingml/2006/table">
            <a:tbl>
              <a:tblPr/>
              <a:tblGrid>
                <a:gridCol w="1783080"/>
                <a:gridCol w="2148840"/>
                <a:gridCol w="960120"/>
                <a:gridCol w="1874520"/>
                <a:gridCol w="4261104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4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63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Popular use case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4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63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Impact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4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63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 saved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4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63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Workflow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4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6336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Search Internal Docs</a:t>
                      </a:r>
                      <a:endParaRPr lang="en-US" sz="11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4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4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Search past projects knowledgebase (KB)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4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900" b="1" dirty="0">
                          <a:solidFill>
                            <a:srgbClr val="EB6336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75%</a:t>
                      </a:r>
                      <a:endParaRPr lang="en-US" sz="19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4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A44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 hours → 5 hours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A44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 new engagement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4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44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Prompt context of engagement → Identify similar past engagements → Answer queries on scope, approach, issue tree, benchmarks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4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4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Search Web &amp; LLMs</a:t>
                      </a:r>
                      <a:endParaRPr lang="en-US" sz="11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4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4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Competitor product and positioning analysis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4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900" b="1" dirty="0">
                          <a:solidFill>
                            <a:srgbClr val="EB6336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70%</a:t>
                      </a:r>
                      <a:endParaRPr lang="en-US" sz="19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4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A44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 hours → 4 hours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A44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 competitor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4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44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Prompt competitor info → Analyze website, news articles and analyst reports → Summarize per pre-defined template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4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Write Reports / Decks</a:t>
                      </a:r>
                      <a:endParaRPr lang="en-US" sz="11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4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4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 executive summary slide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4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900" b="1" dirty="0">
                          <a:solidFill>
                            <a:srgbClr val="EB6336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75%</a:t>
                      </a:r>
                      <a:endParaRPr lang="en-US" sz="19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4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A44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hours → 45 min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A44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 presentation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4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44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Upload slides → Extract key messages → Generate executive summary in client style → Refine content and visuals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4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4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Extract Information</a:t>
                      </a:r>
                      <a:endParaRPr lang="en-US" sz="11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4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4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 contract analysis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4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900" b="1" dirty="0">
                          <a:solidFill>
                            <a:srgbClr val="EB6336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80%</a:t>
                      </a:r>
                      <a:endParaRPr lang="en-US" sz="19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4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A44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 hours → 3 hours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A44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 100 contracts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4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44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Upload contracts → Extract renewal dates, products and pricing terms → Recommend upsell opportunity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4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Translate</a:t>
                      </a:r>
                      <a:endParaRPr lang="en-US" sz="11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4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4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Consolidate subsidiary annual reports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4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900" b="1" dirty="0">
                          <a:solidFill>
                            <a:srgbClr val="EB6336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75%</a:t>
                      </a:r>
                      <a:endParaRPr lang="en-US" sz="19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4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A44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 hours → 12 hours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A44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 annual analysis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4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44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Upload subsidiary reports → Translate into a single preferred language → Generate combined parent and subsidiary report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4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4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566928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across a 10,000-user consulting deployment.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PortcoAITransformation/public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02952" y="310896"/>
            <a:ext cx="1691640" cy="35634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66928" y="384048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60" kern="0" dirty="0">
                <a:solidFill>
                  <a:srgbClr val="EB63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DELIVER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66928" y="694944"/>
            <a:ext cx="9281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 dedicated AI Pod, embedded in your team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4023360" y="1783080"/>
            <a:ext cx="4114800" cy="530352"/>
          </a:xfrm>
          <a:prstGeom prst="roundRect">
            <a:avLst>
              <a:gd name="adj" fmla="val 13793"/>
            </a:avLst>
          </a:prstGeom>
          <a:solidFill>
            <a:srgbClr val="EFE9E3"/>
          </a:solidFill>
          <a:ln w="12700">
            <a:solidFill>
              <a:srgbClr val="C4B9AE"/>
            </a:solidFill>
            <a:prstDash val="dash"/>
          </a:ln>
        </p:spPr>
      </p:sp>
      <p:sp>
        <p:nvSpPr>
          <p:cNvPr id="6" name="Text 3"/>
          <p:cNvSpPr/>
          <p:nvPr/>
        </p:nvSpPr>
        <p:spPr>
          <a:xfrm>
            <a:off x="4023360" y="1783080"/>
            <a:ext cx="4114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4A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PORTCO AI TRANSFORMATION TEAM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6080760" y="2313432"/>
            <a:ext cx="0" cy="310896"/>
          </a:xfrm>
          <a:prstGeom prst="line">
            <a:avLst/>
          </a:prstGeom>
          <a:noFill/>
          <a:ln w="19050">
            <a:solidFill>
              <a:srgbClr val="D8CCC1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343400" y="2624328"/>
            <a:ext cx="3474720" cy="548640"/>
          </a:xfrm>
          <a:prstGeom prst="roundRect">
            <a:avLst>
              <a:gd name="adj" fmla="val 13333"/>
            </a:avLst>
          </a:prstGeom>
          <a:solidFill>
            <a:srgbClr val="EB6336"/>
          </a:solidFill>
          <a:ln w="12700">
            <a:solidFill>
              <a:srgbClr val="EB633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343400" y="2624328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Engineering Manager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6080760" y="3172968"/>
            <a:ext cx="0" cy="256032"/>
          </a:xfrm>
          <a:prstGeom prst="line">
            <a:avLst/>
          </a:prstGeom>
          <a:noFill/>
          <a:ln w="19050">
            <a:solidFill>
              <a:srgbClr val="D8CCC1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581912" y="3429000"/>
            <a:ext cx="8997696" cy="0"/>
          </a:xfrm>
          <a:prstGeom prst="line">
            <a:avLst/>
          </a:prstGeom>
          <a:noFill/>
          <a:ln w="19050">
            <a:solidFill>
              <a:srgbClr val="D8CCC1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581912" y="3429000"/>
            <a:ext cx="0" cy="219456"/>
          </a:xfrm>
          <a:prstGeom prst="line">
            <a:avLst/>
          </a:prstGeom>
          <a:noFill/>
          <a:ln w="19050">
            <a:solidFill>
              <a:srgbClr val="D8CCC1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39496" y="3648456"/>
            <a:ext cx="2084832" cy="777240"/>
          </a:xfrm>
          <a:prstGeom prst="roundRect">
            <a:avLst>
              <a:gd name="adj" fmla="val 10588"/>
            </a:avLst>
          </a:prstGeom>
          <a:solidFill>
            <a:srgbClr val="FFFFFF"/>
          </a:solidFill>
          <a:ln w="15875">
            <a:solidFill>
              <a:srgbClr val="EB633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39496" y="3739896"/>
            <a:ext cx="20848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Product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539496" y="4041648"/>
            <a:ext cx="2084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PM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3831336" y="3429000"/>
            <a:ext cx="0" cy="219456"/>
          </a:xfrm>
          <a:prstGeom prst="line">
            <a:avLst/>
          </a:prstGeom>
          <a:noFill/>
          <a:ln w="19050">
            <a:solidFill>
              <a:srgbClr val="D8CCC1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2788920" y="3648456"/>
            <a:ext cx="2084832" cy="777240"/>
          </a:xfrm>
          <a:prstGeom prst="roundRect">
            <a:avLst>
              <a:gd name="adj" fmla="val 10588"/>
            </a:avLst>
          </a:prstGeom>
          <a:solidFill>
            <a:srgbClr val="FFFFFF"/>
          </a:solidFill>
          <a:ln w="15875">
            <a:solidFill>
              <a:srgbClr val="EB633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788920" y="3739896"/>
            <a:ext cx="20848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AI + Backend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2788920" y="4041648"/>
            <a:ext cx="2084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pipelines &amp; services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6080760" y="3429000"/>
            <a:ext cx="0" cy="219456"/>
          </a:xfrm>
          <a:prstGeom prst="line">
            <a:avLst/>
          </a:prstGeom>
          <a:noFill/>
          <a:ln w="19050">
            <a:solidFill>
              <a:srgbClr val="D8CCC1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5038344" y="3648456"/>
            <a:ext cx="2084832" cy="777240"/>
          </a:xfrm>
          <a:prstGeom prst="roundRect">
            <a:avLst>
              <a:gd name="adj" fmla="val 10588"/>
            </a:avLst>
          </a:prstGeom>
          <a:solidFill>
            <a:srgbClr val="FFFFFF"/>
          </a:solidFill>
          <a:ln w="15875">
            <a:solidFill>
              <a:srgbClr val="EB6336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038344" y="3739896"/>
            <a:ext cx="20848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UX + Frontend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5038344" y="4041648"/>
            <a:ext cx="2084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&amp; build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8330184" y="3429000"/>
            <a:ext cx="0" cy="219456"/>
          </a:xfrm>
          <a:prstGeom prst="line">
            <a:avLst/>
          </a:prstGeom>
          <a:noFill/>
          <a:ln w="19050">
            <a:solidFill>
              <a:srgbClr val="D8CCC1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7287768" y="3648456"/>
            <a:ext cx="2084832" cy="777240"/>
          </a:xfrm>
          <a:prstGeom prst="roundRect">
            <a:avLst>
              <a:gd name="adj" fmla="val 10588"/>
            </a:avLst>
          </a:prstGeom>
          <a:solidFill>
            <a:srgbClr val="FFFFFF"/>
          </a:solidFill>
          <a:ln w="15875">
            <a:solidFill>
              <a:srgbClr val="EB6336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287768" y="3739896"/>
            <a:ext cx="20848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QA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7287768" y="4041648"/>
            <a:ext cx="2084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&amp; automation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10579608" y="3429000"/>
            <a:ext cx="0" cy="219456"/>
          </a:xfrm>
          <a:prstGeom prst="line">
            <a:avLst/>
          </a:prstGeom>
          <a:noFill/>
          <a:ln w="19050">
            <a:solidFill>
              <a:srgbClr val="D8CCC1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9537192" y="3648456"/>
            <a:ext cx="2084832" cy="777240"/>
          </a:xfrm>
          <a:prstGeom prst="roundRect">
            <a:avLst>
              <a:gd name="adj" fmla="val 10588"/>
            </a:avLst>
          </a:prstGeom>
          <a:solidFill>
            <a:srgbClr val="FFFFFF"/>
          </a:solidFill>
          <a:ln w="15875">
            <a:solidFill>
              <a:srgbClr val="EB6336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9537192" y="3739896"/>
            <a:ext cx="20848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DevOps</a:t>
            </a:r>
            <a:endParaRPr lang="en-US" sz="1400" dirty="0"/>
          </a:p>
        </p:txBody>
      </p:sp>
      <p:sp>
        <p:nvSpPr>
          <p:cNvPr id="31" name="Text 28"/>
          <p:cNvSpPr/>
          <p:nvPr/>
        </p:nvSpPr>
        <p:spPr>
          <a:xfrm>
            <a:off x="9537192" y="4041648"/>
            <a:ext cx="2084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 &amp; CI/CD</a:t>
            </a:r>
            <a:endParaRPr lang="en-US" sz="1050" dirty="0"/>
          </a:p>
        </p:txBody>
      </p:sp>
      <p:sp>
        <p:nvSpPr>
          <p:cNvPr id="32" name="Shape 29"/>
          <p:cNvSpPr/>
          <p:nvPr/>
        </p:nvSpPr>
        <p:spPr>
          <a:xfrm>
            <a:off x="566928" y="4983480"/>
            <a:ext cx="11027664" cy="749808"/>
          </a:xfrm>
          <a:prstGeom prst="roundRect">
            <a:avLst>
              <a:gd name="adj" fmla="val 9756"/>
            </a:avLst>
          </a:prstGeom>
          <a:solidFill>
            <a:srgbClr val="FFF3E4"/>
          </a:solidFill>
          <a:ln w="15875">
            <a:solidFill>
              <a:srgbClr val="EB6336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932688" y="4983480"/>
            <a:ext cx="1029614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Founder &amp; CEO  </a:t>
            </a:r>
            <a:pPr indent="0" marL="0">
              <a:buNone/>
            </a:pPr>
            <a:r>
              <a:rPr lang="en-US" sz="1500" dirty="0">
                <a:solidFill>
                  <a:srgbClr val="4A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ultimate accountability for every outcome</a:t>
            </a:r>
            <a:endParaRPr lang="en-US" sz="1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PortcoAITransformation/public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02952" y="310896"/>
            <a:ext cx="1691640" cy="35634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66928" y="384048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60" kern="0" dirty="0">
                <a:solidFill>
                  <a:srgbClr val="EB63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ENGAGE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66928" y="694944"/>
            <a:ext cx="9281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Flexible operating models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566928" y="1874520"/>
            <a:ext cx="3493008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5875">
            <a:solidFill>
              <a:srgbClr val="EB6336"/>
            </a:solidFill>
            <a:prstDash val="solid"/>
          </a:ln>
          <a:effectLst>
            <a:outerShdw sx="100000" sy="100000" kx="0" ky="0" algn="bl" rotWithShape="0" blurRad="152400" dist="38100" dir="5400000">
              <a:srgbClr val="D9CFC6">
                <a:alpha val="5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86968" y="2121408"/>
            <a:ext cx="384048" cy="292608"/>
          </a:xfrm>
          <a:prstGeom prst="roundRect">
            <a:avLst>
              <a:gd name="adj" fmla="val 18750"/>
            </a:avLst>
          </a:prstGeom>
          <a:solidFill>
            <a:srgbClr val="EB633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886968" y="2542032"/>
            <a:ext cx="2852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AI Pod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86968" y="3054096"/>
            <a:ext cx="28529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dedicated cross-functional team, embedded in yours.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334256" y="1874520"/>
            <a:ext cx="3493008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5875">
            <a:solidFill>
              <a:srgbClr val="EB6336"/>
            </a:solidFill>
            <a:prstDash val="solid"/>
          </a:ln>
          <a:effectLst>
            <a:outerShdw sx="100000" sy="100000" kx="0" ky="0" algn="bl" rotWithShape="0" blurRad="152400" dist="38100" dir="5400000">
              <a:srgbClr val="D9CFC6">
                <a:alpha val="5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4654296" y="2121408"/>
            <a:ext cx="384048" cy="292608"/>
          </a:xfrm>
          <a:prstGeom prst="roundRect">
            <a:avLst>
              <a:gd name="adj" fmla="val 18750"/>
            </a:avLst>
          </a:prstGeom>
          <a:solidFill>
            <a:srgbClr val="EB633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654296" y="2542032"/>
            <a:ext cx="2852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Staff augmentation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4654296" y="3054096"/>
            <a:ext cx="28529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Targeted specialists into the team you already have.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8101584" y="1874520"/>
            <a:ext cx="3493008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5875">
            <a:solidFill>
              <a:srgbClr val="EB6336"/>
            </a:solidFill>
            <a:prstDash val="solid"/>
          </a:ln>
          <a:effectLst>
            <a:outerShdw sx="100000" sy="100000" kx="0" ky="0" algn="bl" rotWithShape="0" blurRad="152400" dist="38100" dir="5400000">
              <a:srgbClr val="D9CFC6">
                <a:alpha val="5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8421624" y="2121408"/>
            <a:ext cx="384048" cy="292608"/>
          </a:xfrm>
          <a:prstGeom prst="roundRect">
            <a:avLst>
              <a:gd name="adj" fmla="val 18750"/>
            </a:avLst>
          </a:prstGeom>
          <a:solidFill>
            <a:srgbClr val="EB633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8421624" y="2542032"/>
            <a:ext cx="2852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Build-operate-transfer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8421624" y="3054096"/>
            <a:ext cx="28529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build it, run it, then hand it over to you.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566928" y="4251960"/>
            <a:ext cx="11027664" cy="1143000"/>
          </a:xfrm>
          <a:prstGeom prst="roundRect">
            <a:avLst>
              <a:gd name="adj" fmla="val 7200"/>
            </a:avLst>
          </a:prstGeom>
          <a:solidFill>
            <a:srgbClr val="FFF3E4"/>
          </a:solidFill>
          <a:ln w="15875">
            <a:solidFill>
              <a:srgbClr val="EB633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78408" y="4407408"/>
            <a:ext cx="102047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Commitment earned in four-week increments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978408" y="4828032"/>
            <a:ext cx="10204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assumed. At every gate, you decide whether we continue.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PortcoAITransformation/public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02952" y="310896"/>
            <a:ext cx="1691640" cy="35634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66928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60" kern="0" dirty="0">
                <a:solidFill>
                  <a:srgbClr val="EB63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66928" y="73152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A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Don’t scatter efforts and funds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566928" y="114300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Build a strategic AI asset</a:t>
            </a:r>
            <a:endParaRPr lang="en-US" sz="3600" dirty="0"/>
          </a:p>
        </p:txBody>
      </p:sp>
      <p:sp>
        <p:nvSpPr>
          <p:cNvPr id="6" name="Shape 3"/>
          <p:cNvSpPr/>
          <p:nvPr/>
        </p:nvSpPr>
        <p:spPr>
          <a:xfrm>
            <a:off x="621792" y="2386584"/>
            <a:ext cx="146304" cy="146304"/>
          </a:xfrm>
          <a:prstGeom prst="ellipse">
            <a:avLst/>
          </a:prstGeom>
          <a:solidFill>
            <a:srgbClr val="EB6336"/>
          </a:solidFill>
          <a:ln w="12700">
            <a:solidFill>
              <a:srgbClr val="EB633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78408" y="224028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Focus your AI program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621792" y="3099816"/>
            <a:ext cx="146304" cy="146304"/>
          </a:xfrm>
          <a:prstGeom prst="ellipse">
            <a:avLst/>
          </a:prstGeom>
          <a:solidFill>
            <a:srgbClr val="EB6336"/>
          </a:solidFill>
          <a:ln w="12700">
            <a:solidFill>
              <a:srgbClr val="EB633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78408" y="2953512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Build on the right architecture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621792" y="3813048"/>
            <a:ext cx="146304" cy="146304"/>
          </a:xfrm>
          <a:prstGeom prst="ellipse">
            <a:avLst/>
          </a:prstGeom>
          <a:solidFill>
            <a:srgbClr val="EB6336"/>
          </a:solidFill>
          <a:ln w="12700">
            <a:solidFill>
              <a:srgbClr val="EB633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78408" y="3666744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Don’t lock to a single LLM model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621792" y="4526280"/>
            <a:ext cx="146304" cy="146304"/>
          </a:xfrm>
          <a:prstGeom prst="ellipse">
            <a:avLst/>
          </a:prstGeom>
          <a:solidFill>
            <a:srgbClr val="EB6336"/>
          </a:solidFill>
          <a:ln w="12700">
            <a:solidFill>
              <a:srgbClr val="EB633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78408" y="4379976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Partner with a credible, reliable AI vendor</a:t>
            </a:r>
            <a:endParaRPr lang="en-US" sz="2000" dirty="0"/>
          </a:p>
        </p:txBody>
      </p:sp>
      <p:sp>
        <p:nvSpPr>
          <p:cNvPr id="14" name="Shape 11"/>
          <p:cNvSpPr/>
          <p:nvPr/>
        </p:nvSpPr>
        <p:spPr>
          <a:xfrm>
            <a:off x="566928" y="5349240"/>
            <a:ext cx="7863840" cy="777240"/>
          </a:xfrm>
          <a:prstGeom prst="roundRect">
            <a:avLst>
              <a:gd name="adj" fmla="val 10588"/>
            </a:avLst>
          </a:prstGeom>
          <a:solidFill>
            <a:srgbClr val="EB6336"/>
          </a:solidFill>
          <a:ln w="12700">
            <a:solidFill>
              <a:srgbClr val="EB633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32688" y="534924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80" kern="0" dirty="0">
                <a:solidFill>
                  <a:srgbClr val="FFDC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  </a:t>
            </a:r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Profitable growth and higher exit value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411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PortcoAITransformation/public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46120" y="1965960"/>
            <a:ext cx="5669280" cy="119422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3337560"/>
            <a:ext cx="1216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9A8D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Accelerate AI-driven value creation</a:t>
            </a:r>
            <a:endParaRPr lang="en-US" sz="1900" dirty="0"/>
          </a:p>
        </p:txBody>
      </p:sp>
      <p:sp>
        <p:nvSpPr>
          <p:cNvPr id="4" name="Text 1"/>
          <p:cNvSpPr/>
          <p:nvPr/>
        </p:nvSpPr>
        <p:spPr>
          <a:xfrm>
            <a:off x="0" y="3886200"/>
            <a:ext cx="1216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Let’s build your AI advantage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0" y="4709160"/>
            <a:ext cx="1216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B63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infinitepossibilities.ai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 AI Platforms for Portfolio Companies</dc:title>
  <dc:subject>PptxGenJS Presentation</dc:subject>
  <dc:creator>Infinite Possibilities</dc:creator>
  <cp:lastModifiedBy>Infinite Possibilities</cp:lastModifiedBy>
  <cp:revision>1</cp:revision>
  <dcterms:created xsi:type="dcterms:W3CDTF">2026-08-16T04:39:40Z</dcterms:created>
  <dcterms:modified xsi:type="dcterms:W3CDTF">2026-08-16T04:39:40Z</dcterms:modified>
</cp:coreProperties>
</file>