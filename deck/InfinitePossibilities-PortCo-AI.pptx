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Infinite Possibilities builds custom AI platforms for portfolio companies.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proof, not positioning. The numbers earn the right to be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Firm at a glance — credibility markers before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MIT: 95% of GenAI pilots show no P&amp;L impact. Gartner: 41% of employees are citizen developers. EY: token costs now trigger fiscal scrutiny.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thesis. Proprietary IP owned at exit is the AI value lever that carries a durable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design principles. Each answers one of the four problems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into the use-case detail carried over from the capabilities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carried over verbatim from the capabilities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Mid-market proof: a conversational agent over three previously disconnected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pod reports into the client organisation, not alongside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inside the line is new and owned. Everything outside it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ways to engage. Commitment is earned, never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and the single impact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572000" cy="96308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5146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 AI platforms for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portfolio companies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66928" y="43434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AI-driven value creation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66928" y="5029200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221C19"/>
          </a:solidFill>
          <a:ln w="12700">
            <a:solidFill>
              <a:srgbClr val="3A2F2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670048" y="5029200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221C19"/>
          </a:solidFill>
          <a:ln w="12700">
            <a:solidFill>
              <a:srgbClr val="3A2F2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773168" y="5029200"/>
            <a:ext cx="1965960" cy="420624"/>
          </a:xfrm>
          <a:prstGeom prst="roundRect">
            <a:avLst>
              <a:gd name="adj" fmla="val 21739"/>
            </a:avLst>
          </a:prstGeom>
          <a:solidFill>
            <a:srgbClr val="221C19"/>
          </a:solidFill>
          <a:ln w="12700">
            <a:solidFill>
              <a:srgbClr val="3A2F2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DD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AT ENTERPRISE SCALE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914400"/>
            <a:ext cx="9281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of the world’s leading consulting firms</a:t>
            </a:r>
            <a:endParaRPr lang="en-US" sz="2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runs its AI on a platform we built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10,000+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66928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USERS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323844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323844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80760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15B+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080760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PER MONTH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837676" y="2880360"/>
            <a:ext cx="24825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99%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837676" y="3703320"/>
            <a:ext cx="2482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ACCURACY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AI platform partner since 2023 — scaled from 20 to 10,000+ users across 20+ countries, supporting 100+ use cases.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From AI ambition to AI in production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57276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a software development partner for enterprise-ready custom AI, building platforms that portfolio companies own.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6928" y="260604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275234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 2013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41248" y="317296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42816" y="260604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275234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 2022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17136" y="317296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solutions since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18704" y="260604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93024" y="275234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Private markets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8193024" y="317296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focus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3192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407822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30+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41248" y="449884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42816" y="393192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17136" y="407822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50+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517136" y="449884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Battle-tested accelerators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918704" y="3931920"/>
            <a:ext cx="3419856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4DA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93024" y="4078224"/>
            <a:ext cx="2898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193024" y="4498848"/>
            <a:ext cx="2898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project share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DD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MOST MID-MARKET PORTFOLIO COMPANIES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four things, every time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96596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9536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435608" y="2148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Citizen developers build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779008" y="2148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scale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2552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435608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Vendors sell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779008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fit the ecosystem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66928" y="406908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" y="43068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435608" y="4251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Leaders want to invest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779008" y="4251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determine what and when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221C19"/>
          </a:solidFill>
          <a:ln w="12700">
            <a:solidFill>
              <a:srgbClr val="332A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9536" y="5358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35608" y="5303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Tokens burn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5779008" y="5303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1346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Unable to verify ROI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6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686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E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portfolio company needs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66928" y="1600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FFD5C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 another one-off solution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FFD5C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Not another vendor’s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2880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purpose-built AI platform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66928" y="3840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DD3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strategic asset they own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66928" y="480060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D9522A"/>
          </a:solidFill>
          <a:ln w="12700">
            <a:solidFill>
              <a:srgbClr val="D952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profitable growth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98848" y="480060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D9522A"/>
          </a:solidFill>
          <a:ln w="12700">
            <a:solidFill>
              <a:srgbClr val="D952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exit value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build these strategic assets for portfolio companies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188366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33856" y="182880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Prioritized workflows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133856" y="224942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drive profitable growth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63640" y="188366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30568" y="182880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platform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830568" y="224942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tools, knowledge and templates — one connection to your core systems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66928" y="330098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33856" y="324612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Model-agnostic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133856" y="366674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on top of every AI wave, never locked to one vendor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263640" y="330098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30568" y="324612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Cost-managed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830568" y="366674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spend never outruns the work it replaces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66928" y="471830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33856" y="4663440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Secure by design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1133856" y="5084064"/>
            <a:ext cx="4599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inherits it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377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DD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cases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566928" y="3840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platform earns its keep — proven in production across a 10,000-user deployment.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platform features that improve productivity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47088"/>
          <a:ext cx="11027664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148840"/>
                <a:gridCol w="960120"/>
                <a:gridCol w="1874520"/>
                <a:gridCol w="42611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Popular use case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saved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633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Search Internal Docs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past projects knowledgebase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hours → 5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new engagement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context of engagement → Identify similar past engagements → Answer queries on scope, approach, issue tree, benchmarks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Search Web &amp; LLMs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Competitor product and positioning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70%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hours → 4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competitor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competitor info → Analyze website, news articles and analyst reports → Summarize per pre-defined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Write Reports / Decks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executive summary slide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hours → 45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presentation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slides → Extract key messages → Generate executive summary in client style → Refine content and visuals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 Information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contract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hours → 3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100 contracts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contracts → Extract renewal dates, products and pricing terms → Recommend upsell 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Translate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 subsidiary annual reports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EB633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75%</a:t>
                      </a:r>
                      <a:endParaRPr lang="en-US" sz="1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hours → 12 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annual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4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subsidiary reports → Translate into a single preferred language → Generate combined parent and subsidiary report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A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a 10,000-user consulting deployment.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systems, one Planner agent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417320" y="1828800"/>
            <a:ext cx="2834640" cy="548640"/>
          </a:xfrm>
          <a:prstGeom prst="roundRect">
            <a:avLst>
              <a:gd name="adj" fmla="val 13333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1417320" y="1828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QuickBase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834640" y="2377440"/>
            <a:ext cx="0" cy="292608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54880" y="1828800"/>
            <a:ext cx="2834640" cy="548640"/>
          </a:xfrm>
          <a:prstGeom prst="roundRect">
            <a:avLst>
              <a:gd name="adj" fmla="val 13333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4754880" y="1828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Documents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2377440"/>
            <a:ext cx="0" cy="292608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92440" y="1828800"/>
            <a:ext cx="2834640" cy="548640"/>
          </a:xfrm>
          <a:prstGeom prst="roundRect">
            <a:avLst>
              <a:gd name="adj" fmla="val 13333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8092440" y="1828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Library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509760" y="2377440"/>
            <a:ext cx="0" cy="292608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2670048"/>
            <a:ext cx="6675120" cy="0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80760" y="2670048"/>
            <a:ext cx="0" cy="365760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931920" y="3063240"/>
            <a:ext cx="4297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931920" y="306324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Planner Agent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080760" y="3721608"/>
            <a:ext cx="0" cy="384048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703320" y="4105656"/>
            <a:ext cx="4754880" cy="548640"/>
          </a:xfrm>
          <a:prstGeom prst="roundRect">
            <a:avLst>
              <a:gd name="adj" fmla="val 13333"/>
            </a:avLst>
          </a:prstGeom>
          <a:solidFill>
            <a:srgbClr val="FFF3E4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03320" y="41056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ask in plain language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66928" y="502920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→ 1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566928" y="557784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unified into one interface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242816" y="502920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Hours → seconds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4242816" y="557784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answer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918704" y="502920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2×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7918704" y="557784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client wins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DELIVER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dedicated AI Pod, embedded in your team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023360" y="1783080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4023360" y="178308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PORTCO AI TRANSFORMATION TEAM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080760" y="2313432"/>
            <a:ext cx="0" cy="31089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43400" y="2624328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43400" y="26243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Engineering Manager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3172968"/>
            <a:ext cx="0" cy="256032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81912" y="3429000"/>
            <a:ext cx="8997696" cy="0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81912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9496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9496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Product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39496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831336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88920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88920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+ Backend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2788920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services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80760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38344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38344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UX + Frontend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38344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build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330184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287768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87768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287768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automation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579608" y="3429000"/>
            <a:ext cx="0" cy="219456"/>
          </a:xfrm>
          <a:prstGeom prst="line">
            <a:avLst/>
          </a:prstGeom>
          <a:noFill/>
          <a:ln w="19050">
            <a:solidFill>
              <a:srgbClr val="D8CCC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537192" y="3648456"/>
            <a:ext cx="2084832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537192" y="3739896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DevOps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537192" y="40416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&amp; CI/CD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27664" cy="749808"/>
          </a:xfrm>
          <a:prstGeom prst="roundRect">
            <a:avLst>
              <a:gd name="adj" fmla="val 9756"/>
            </a:avLst>
          </a:prstGeom>
          <a:solidFill>
            <a:srgbClr val="FFF3E4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32688" y="4983480"/>
            <a:ext cx="10296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Founder &amp; CEO  </a:t>
            </a:r>
            <a:pPr indent="0" marL="0">
              <a:buNone/>
            </a:pPr>
            <a:r>
              <a:rPr lang="en-US" sz="15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ultimate accountability for every outcome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architecture of a strategic AI asset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874520"/>
            <a:ext cx="722376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25400">
            <a:solidFill>
              <a:srgbClr val="EB633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" y="1719072"/>
            <a:ext cx="3291840" cy="292608"/>
          </a:xfrm>
          <a:prstGeom prst="rect">
            <a:avLst/>
          </a:prstGeom>
          <a:solidFill>
            <a:srgbClr val="FAF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· WHAT YOU OWN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59536" y="2194560"/>
            <a:ext cx="663854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9536" y="228600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 Workflows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59536" y="2633472"/>
            <a:ext cx="663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priority workflows that drive profit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78808" y="3035808"/>
            <a:ext cx="0" cy="329184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59536" y="3401568"/>
            <a:ext cx="6638544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9536" y="3520440"/>
            <a:ext cx="6638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B63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Enterprise AI Core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217420" y="3968496"/>
            <a:ext cx="14630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connectors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790188" y="3968496"/>
            <a:ext cx="7772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677156" y="3968496"/>
            <a:ext cx="14630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363724" y="4370832"/>
            <a:ext cx="228600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office templates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59452" y="4370832"/>
            <a:ext cx="1234440" cy="329184"/>
          </a:xfrm>
          <a:prstGeom prst="roundRect">
            <a:avLst>
              <a:gd name="adj" fmla="val 38889"/>
            </a:avLst>
          </a:prstGeom>
          <a:solidFill>
            <a:srgbClr val="FFF3E4"/>
          </a:solidFill>
          <a:ln w="9525">
            <a:solidFill>
              <a:srgbClr val="EB633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549640" y="320040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549640" y="331012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PRODUCTIVITY AI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549640" y="36393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Copilot · ChatGPT Enterprise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882128" y="3730752"/>
            <a:ext cx="603504" cy="0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178808" y="5157216"/>
            <a:ext cx="0" cy="384048"/>
          </a:xfrm>
          <a:prstGeom prst="line">
            <a:avLst/>
          </a:prstGeom>
          <a:noFill/>
          <a:ln w="19050">
            <a:solidFill>
              <a:srgbClr val="EB6336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207008" y="5541264"/>
            <a:ext cx="5943600" cy="658368"/>
          </a:xfrm>
          <a:prstGeom prst="roundRect">
            <a:avLst>
              <a:gd name="adj" fmla="val 11111"/>
            </a:avLst>
          </a:prstGeom>
          <a:solidFill>
            <a:srgbClr val="EFE9E3"/>
          </a:solidFill>
          <a:ln w="12700">
            <a:solidFill>
              <a:srgbClr val="C4B9AE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1207008" y="561441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SYSTEMS &amp; DATA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207008" y="5888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· CRM · HCM — governed, RBAC-scoped, audited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549640" y="49377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tools are how you talk to it.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Core is what you own.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ENGAGE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694944"/>
            <a:ext cx="9281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Flexible operating models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66928" y="1874520"/>
            <a:ext cx="349300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86968" y="212140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86968" y="2542032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Pod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86968" y="30540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cross-functional team, embedded in yours.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1874520"/>
            <a:ext cx="349300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54296" y="212140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54296" y="2542032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Staff augmentation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654296" y="30540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specialists into the team you already have.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01584" y="1874520"/>
            <a:ext cx="3493008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5875">
            <a:solidFill>
              <a:srgbClr val="EB6336"/>
            </a:solidFill>
            <a:prstDash val="solid"/>
          </a:ln>
          <a:effectLst>
            <a:outerShdw sx="100000" sy="100000" kx="0" ky="0" algn="bl" rotWithShape="0" blurRad="152400" dist="38100" dir="5400000">
              <a:srgbClr val="D9CFC6">
                <a:alpha val="5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21624" y="212140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B633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421624" y="2542032"/>
            <a:ext cx="2852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Build-operate-transfer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421624" y="3054096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it, run it, then hand it over to you.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251960"/>
            <a:ext cx="11027664" cy="1143000"/>
          </a:xfrm>
          <a:prstGeom prst="roundRect">
            <a:avLst>
              <a:gd name="adj" fmla="val 7200"/>
            </a:avLst>
          </a:prstGeom>
          <a:solidFill>
            <a:srgbClr val="FFF3E4"/>
          </a:solidFill>
          <a:ln w="15875">
            <a:solidFill>
              <a:srgbClr val="EB633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8408" y="4407408"/>
            <a:ext cx="102047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Commitment earned in four-week increments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78408" y="4828032"/>
            <a:ext cx="1020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assumed. At every gate, you decide whether we continue.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2952" y="310896"/>
            <a:ext cx="1691640" cy="35634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66928" y="7315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scatter efforts and funds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66928" y="1143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a strategic AI asset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621792" y="2386584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78408" y="22402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Focus your AI program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21792" y="3099816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8408" y="295351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on the right architecture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1792" y="3813048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366674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Don’t lock to a single LLM model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" y="4526280"/>
            <a:ext cx="146304" cy="146304"/>
          </a:xfrm>
          <a:prstGeom prst="ellipse">
            <a:avLst/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78408" y="437997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Partner with a credible, reliable AI vendor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66928" y="534924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EB6336"/>
          </a:solidFill>
          <a:ln w="12700">
            <a:solidFill>
              <a:srgbClr val="EB633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53492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FFDC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Profitable growth and higher exit value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ortcoAITransformation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1965960"/>
            <a:ext cx="5669280" cy="119422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33756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A8D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AI-driven value creation</a:t>
            </a:r>
            <a:endParaRPr lang="en-US" sz="1900" dirty="0"/>
          </a:p>
        </p:txBody>
      </p:sp>
      <p:sp>
        <p:nvSpPr>
          <p:cNvPr id="4" name="Text 1"/>
          <p:cNvSpPr/>
          <p:nvPr/>
        </p:nvSpPr>
        <p:spPr>
          <a:xfrm>
            <a:off x="0" y="3886200"/>
            <a:ext cx="1216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Let’s build your AI advantage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0" y="4709160"/>
            <a:ext cx="1216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B6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infinitepossibilities.ai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 AI Platforms for Portfolio Companies</dc:title>
  <dc:subject>PptxGenJS Presentation</dc:subject>
  <dc:creator>Infinite Possibilities</dc:creator>
  <cp:lastModifiedBy>Infinite Possibilities</cp:lastModifiedBy>
  <cp:revision>1</cp:revision>
  <dcterms:created xsi:type="dcterms:W3CDTF">2026-08-16T04:13:19Z</dcterms:created>
  <dcterms:modified xsi:type="dcterms:W3CDTF">2026-08-16T04:13:19Z</dcterms:modified>
</cp:coreProperties>
</file>